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4864"/>
            <a:ext cx="64008" cy="5033772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3657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0972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82880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56032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329184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40233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47548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3657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10972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82880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256032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1760" y="329184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51760" y="40233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47548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657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0972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182880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56032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329184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40233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47548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3657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10972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97680" y="182880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0" y="256032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0" y="329184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97680" y="40233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7680" y="47548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0" y="3657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0" y="10972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0" y="182880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0640" y="256032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20640" y="329184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0" y="40233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20640" y="47548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657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0" y="10972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0" y="182880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56032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329184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40233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47548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66560" y="3657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66560" y="10972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66560" y="182880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66560" y="256032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0" y="329184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0" y="40233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66560" y="47548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89520" y="3657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89520" y="10972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89520" y="182880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6032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89520" y="329184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589520" y="40233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89520" y="47548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412480" y="3657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12480" y="10972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12480" y="182880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12480" y="256032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12480" y="329184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412480" y="402336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412480" y="4754880"/>
            <a:ext cx="36576" cy="36576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1440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Transition Field</a:t>
            </a:r>
            <a:endParaRPr lang="en-US" sz="4000" dirty="0"/>
          </a:p>
        </p:txBody>
      </p:sp>
      <p:sp>
        <p:nvSpPr>
          <p:cNvPr id="70" name="Text 68"/>
          <p:cNvSpPr/>
          <p:nvPr/>
        </p:nvSpPr>
        <p:spPr>
          <a:xfrm>
            <a:off x="914400" y="166420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Time Series Analysis</a:t>
            </a:r>
            <a:endParaRPr lang="en-US" sz="2600" dirty="0"/>
          </a:p>
        </p:txBody>
      </p:sp>
      <p:sp>
        <p:nvSpPr>
          <p:cNvPr id="71" name="Shape 69"/>
          <p:cNvSpPr/>
          <p:nvPr/>
        </p:nvSpPr>
        <p:spPr>
          <a:xfrm>
            <a:off x="914400" y="2331720"/>
            <a:ext cx="5943600" cy="3657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14400" y="2487168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electricity load data as 2D images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Bayesian-optimized parameters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914400" y="3401568"/>
            <a:ext cx="1463040" cy="274320"/>
          </a:xfrm>
          <a:prstGeom prst="rect">
            <a:avLst>
              <a:gd name="adj" fmla="val 16667"/>
            </a:avLst>
          </a:prstGeom>
          <a:solidFill>
            <a:srgbClr val="1B4F8A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14400" y="3401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468880" y="3401568"/>
            <a:ext cx="1463040" cy="274320"/>
          </a:xfrm>
          <a:prstGeom prst="rect">
            <a:avLst>
              <a:gd name="adj" fmla="val 16667"/>
            </a:avLst>
          </a:prstGeom>
          <a:solidFill>
            <a:srgbClr val="1B4F8A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468880" y="3401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023360" y="3401568"/>
            <a:ext cx="1463040" cy="274320"/>
          </a:xfrm>
          <a:prstGeom prst="rect">
            <a:avLst>
              <a:gd name="adj" fmla="val 16667"/>
            </a:avLst>
          </a:prstGeom>
          <a:solidFill>
            <a:srgbClr val="1B4F8A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023360" y="3401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Encoding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577840" y="3401568"/>
            <a:ext cx="1463040" cy="274320"/>
          </a:xfrm>
          <a:prstGeom prst="rect">
            <a:avLst>
              <a:gd name="adj" fmla="val 16667"/>
            </a:avLst>
          </a:prstGeom>
          <a:solidFill>
            <a:srgbClr val="1B4F8A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577840" y="3401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132320" y="3401568"/>
            <a:ext cx="1463040" cy="274320"/>
          </a:xfrm>
          <a:prstGeom prst="rect">
            <a:avLst>
              <a:gd name="adj" fmla="val 16667"/>
            </a:avLst>
          </a:prstGeom>
          <a:solidFill>
            <a:srgbClr val="1B4F8A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32320" y="3401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ML-Ready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914400" y="3886200"/>
            <a:ext cx="731520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14400" y="3886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ETTh1 — Electricity Transformer Temperature</a:t>
            </a:r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17,420 hourly readings   |   7 features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walkthrough from raw data to ML-ready image encoding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225296"/>
            <a:ext cx="566928" cy="566928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25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11338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7008" y="1444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 time series is hard to work with at scale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2459736"/>
            <a:ext cx="566928" cy="566928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4597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23682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2679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electricity load data before processing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493008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" y="3694176"/>
            <a:ext cx="566928" cy="566928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6941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36027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MTF?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07008" y="39136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time series becomes a 2D image, step by step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024128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9472" y="1225296"/>
            <a:ext cx="566928" cy="566928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225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96128" y="11338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96128" y="1444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Intelligently tuning the most critical parameter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258568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19472" y="2459736"/>
            <a:ext cx="566928" cy="566928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4597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96128" y="23682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Insights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96128" y="2679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MTF images, transition patterns, and regime analysis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493008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9472" y="3694176"/>
            <a:ext cx="566928" cy="566928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6941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96128" y="36027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96128" y="39136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uses across industries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1B4F8A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54864" cy="201168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 sensor data is not enough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with Raw Time Series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pain points in electricity load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70432"/>
            <a:ext cx="502920" cy="502920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52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1338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Numbers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417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17,420 hourly readings per sensor. No human can inspect this raw stream — patterns are invisible to the naked eye.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170432"/>
            <a:ext cx="502920" cy="502920"/>
          </a:xfrm>
          <a:prstGeom prst="oval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152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77640" y="11338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Dynamics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77640" y="1417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 plots show what the values are, not how they tend to change. The statistical transition structure is lost.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70432"/>
            <a:ext cx="502920" cy="502920"/>
          </a:xfrm>
          <a:prstGeom prst="oval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152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⚙️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280" y="11338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Incompatibility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1417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image recognition AI (CNNs, Vision Transformers) cannot directly process a 1D sequence of numbers.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606040"/>
            <a:ext cx="8412480" cy="2176272"/>
          </a:xfrm>
          <a:prstGeom prst="rect">
            <a:avLst/>
          </a:prstGeom>
          <a:solidFill>
            <a:srgbClr val="0D1B2A"/>
          </a:solidFill>
          <a:ln w="1270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2724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306324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time series into a 2D image that captures BOTH the temporal order AND the probabilistic transition structure of the data. This image can then be fed directly into any image-based AI model.</a:t>
            </a:r>
            <a:endParaRPr lang="en-US" sz="11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2743200"/>
            <a:ext cx="3566160" cy="8229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120640" y="36118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series  →  Discretize  →  Transition Matrix  →  MTF Image  →  AI-ready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1B4F8A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54864" cy="201168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electricity transformer data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ETTh1 — Electricity Transformer Temperature Dataset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sensor readings from a Chinese power grid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914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241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17,420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5270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readings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1920240" cy="914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241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features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920240" cy="914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241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yrs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5270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12280" y="1005840"/>
            <a:ext cx="1920240" cy="914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0241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12280" y="15270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analysed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84832"/>
          <a:ext cx="8412480" cy="2606040"/>
        </p:xfrm>
        <a:graphic>
          <a:graphicData uri="http://schemas.openxmlformats.org/drawingml/2006/table">
            <a:tbl>
              <a:tblPr/>
              <a:tblGrid>
                <a:gridCol w="1280160"/>
                <a:gridCol w="475488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HUFL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Useful 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Our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Useless 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MUFL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Useful 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Useless 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LUFL / LULL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Useful / Useless 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Temperature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behaviour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HUFL Signal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Useful Load — first 1,000 hourly readings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87552"/>
            <a:ext cx="841248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3886200"/>
            <a:ext cx="8412480" cy="868680"/>
          </a:xfrm>
          <a:prstGeom prst="rect">
            <a:avLst/>
          </a:prstGeom>
          <a:solidFill>
            <a:srgbClr val="EBF2FB"/>
          </a:solidFill>
          <a:ln w="1524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3886200"/>
            <a:ext cx="64008" cy="8686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3886200"/>
            <a:ext cx="8211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shows clear repeating cycles (daily load peaks during working hours) and occasional sharp spikes. These patterns need to be captured quantitatively — not just observed visually.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Distribution &amp; Daily Load Patterns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normally distributed? When is load highest?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87552"/>
            <a:ext cx="841248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005072"/>
            <a:ext cx="4114800" cy="777240"/>
          </a:xfrm>
          <a:prstGeom prst="rect">
            <a:avLst/>
          </a:prstGeom>
          <a:solidFill>
            <a:srgbClr val="EBF2FB"/>
          </a:solidFill>
          <a:ln w="10160">
            <a:solidFill>
              <a:srgbClr val="1B4F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041648"/>
            <a:ext cx="3840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chart: The distribution is right-skewed and non-normal. This is why we use quantile binning — it doesn't assume a bell curve shape, giving each bin an equal number of data points.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63440" y="4005072"/>
            <a:ext cx="4114800" cy="777240"/>
          </a:xfrm>
          <a:prstGeom prst="rect">
            <a:avLst/>
          </a:prstGeom>
          <a:solidFill>
            <a:srgbClr val="EBF2FB"/>
          </a:solidFill>
          <a:ln w="10160">
            <a:solidFill>
              <a:srgbClr val="0F717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4041648"/>
            <a:ext cx="3840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chart: Load peaks clearly in business hours (8am–8pm, shown in gold). Night-time load (blue) is consistently lower. The MTF will capture this daily rhythm as transition patterns.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Autocorrelation Analysis (ACF)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how much the present predicts the future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87552"/>
            <a:ext cx="841248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005072"/>
            <a:ext cx="25603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ACF?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27939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measures how well the current value predicts a value 'lag' hours in the future. Values outside the red band are statistically significant.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08960" y="4005072"/>
            <a:ext cx="28346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lag 24 &amp; 48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0" y="427939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peaks at lag 24 and 48 hours confirm a precise daily (24-hour) cycle in electricity load — the same pattern repeats every day.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126480" y="4005072"/>
            <a:ext cx="26517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4005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MTF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17920" y="427939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MTF encodes this memory explicitly — the transition probabilities between hour-pairs 24 steps apart will be systematically higher than random.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— All 7 Sensors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 different load measurements relate to each other?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87552"/>
            <a:ext cx="420624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1005840"/>
            <a:ext cx="3931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0" y="1188720"/>
            <a:ext cx="502920" cy="502920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🔗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50992" y="1115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load correlation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50992" y="1408176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HUFL, HULL, MUFL, MULL are all strongly correlated (r &gt; 0.8). They all respond to the same demand events.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2304288"/>
            <a:ext cx="3931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2487168"/>
            <a:ext cx="502920" cy="502920"/>
          </a:xfrm>
          <a:prstGeom prst="oval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🌡️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650992" y="24140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Temperature (OT) differs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50992" y="2706624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has weaker correlation with load features — it reflects thermal lag and equipment physics, not just demand.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46320" y="3602736"/>
            <a:ext cx="3931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29200" y="3785616"/>
            <a:ext cx="502920" cy="502920"/>
          </a:xfrm>
          <a:prstGeom prst="oval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3785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🎯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650992" y="371246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HUFL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50992" y="400507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features are redundant, we analyse HUFL as the most representative signal for MTF encoding.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1B4F8A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54864" cy="201168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Markov Transition Field?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numbers to images in three steps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 — A New Way to See Time Series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photograph the data's behaviour, not its shape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29768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78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MTF captures: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values themselves,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but how they CHANGE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258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consecutive steps,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but transitions between ANY two time points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whether change happened,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but HOW LIKELY each change 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630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ordering is preserved —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position in the image = position in time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2040" y="987552"/>
            <a:ext cx="3886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74920" y="10789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intuitive analogy: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74920" y="1463040"/>
            <a:ext cx="352044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600200"/>
            <a:ext cx="3520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weather forecaster.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just record today's temperature — they track how often 'cold' days are followed by 'warm' days.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MTF does the same for electricity load: it records the full map of 'if the load is at level A now, how likely is it to be at level B at any future moment?'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visual fingerprint of the signal's statistical behaviour.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MTF — Three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walkthrough of the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6517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310896" cy="22860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31089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104241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353312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continuous readings into numbered buckets (bins). E.g., bins 0–11 from 'very low load' to 'very high load'. Each hour now has a bin label instead of a raw number.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64992"/>
            <a:ext cx="26517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015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Method: Quantile binning — equal data in each bin, no normality assumption needed.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987552"/>
            <a:ext cx="26517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87552"/>
            <a:ext cx="310896" cy="22860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987552"/>
            <a:ext cx="31089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84448" y="104241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MATRIX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84448" y="1353312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every consecutive pair of hours. Count: 'how often did bin A lead to bin B?' Divide by totals to get probabilities. Result: a Q×Q grid of transition probabilities.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364992"/>
            <a:ext cx="26517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F71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4015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Key property: each column sums to 1 — it's a proper Markov model.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987552"/>
            <a:ext cx="26517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987552"/>
            <a:ext cx="310896" cy="228600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987552"/>
            <a:ext cx="31089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19088" y="104241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IMAGE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19088" y="1353312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pair of hours (i, j), look up the transition probability between their bins in the matrix. That value becomes a pixel in the N×N image.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364992"/>
            <a:ext cx="26517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9A8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34015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Result: a square image where position = time and brightness = transition probability.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71800" y="2057400"/>
            <a:ext cx="228600" cy="54864"/>
          </a:xfrm>
          <a:prstGeom prst="rect">
            <a:avLst/>
          </a:prstGeom>
          <a:solidFill>
            <a:srgbClr val="7B8794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6440" y="2057400"/>
            <a:ext cx="228600" cy="54864"/>
          </a:xfrm>
          <a:prstGeom prst="rect">
            <a:avLst/>
          </a:prstGeom>
          <a:solidFill>
            <a:srgbClr val="7B8794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114800"/>
            <a:ext cx="8412480" cy="713232"/>
          </a:xfrm>
          <a:prstGeom prst="rect">
            <a:avLst/>
          </a:prstGeom>
          <a:solidFill>
            <a:srgbClr val="EBF2FB"/>
          </a:solidFill>
          <a:ln w="1524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114800"/>
            <a:ext cx="64008" cy="7132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114800"/>
            <a:ext cx="82113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MTF preserves BOTH temporal ordering (position in the grid = position in time) AND Markovian dynamics (value in the grid = transition probability). No other standard encoding achieves both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Discretizing the HUFL Signal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continuous values into labelled bins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87552"/>
            <a:ext cx="8412480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87952"/>
            <a:ext cx="4114800" cy="886968"/>
          </a:xfrm>
          <a:prstGeom prst="rect">
            <a:avLst/>
          </a:prstGeom>
          <a:solidFill>
            <a:srgbClr val="EBF2FB"/>
          </a:solidFill>
          <a:ln w="10160">
            <a:solidFill>
              <a:srgbClr val="1B4F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206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chart — Original signal: The continuous HUFL readings, ranging from ~6 to ~33. These raw numbers cannot be directly used in a Markov model.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63440" y="4187952"/>
            <a:ext cx="4114800" cy="886968"/>
          </a:xfrm>
          <a:prstGeom prst="rect">
            <a:avLst/>
          </a:prstGeom>
          <a:solidFill>
            <a:srgbClr val="EBF2FB"/>
          </a:solidFill>
          <a:ln w="10160">
            <a:solidFill>
              <a:srgbClr val="0F717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4206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chart — Discretized: Each hour now has a bin number (0–11). Colours show which bin. Equal-frequency (quantile) binning ensures each state appears roughly the same number of times.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Building the Transition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and normalising state transitions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87552"/>
            <a:ext cx="84124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315968"/>
            <a:ext cx="4114800" cy="822960"/>
          </a:xfrm>
          <a:prstGeom prst="rect">
            <a:avLst/>
          </a:prstGeom>
          <a:solidFill>
            <a:srgbClr val="EBF2FB"/>
          </a:solidFill>
          <a:ln w="10160">
            <a:solidFill>
              <a:srgbClr val="1B4F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4348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— Transition Counts: Each cell [row, col] shows how many times the signal moved FROM bin 'col' TO bin 'row' in consecutive hours. Darker = more frequent.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63440" y="4315968"/>
            <a:ext cx="4114800" cy="822960"/>
          </a:xfrm>
          <a:prstGeom prst="rect">
            <a:avLst/>
          </a:prstGeom>
          <a:solidFill>
            <a:srgbClr val="EBF2FB"/>
          </a:solidFill>
          <a:ln w="10160">
            <a:solidFill>
              <a:srgbClr val="E845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44348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Transition Probabilities: Dividing by column totals gives probabilities (0–1). Notice the strong diagonal — the load most often stays in its current bin (gradual changes). Off-diagonal = jumps.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The Markov Transition Field Images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resolution and downsampled versions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87552"/>
            <a:ext cx="8412480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87952"/>
            <a:ext cx="4114800" cy="886968"/>
          </a:xfrm>
          <a:prstGeom prst="rect">
            <a:avLst/>
          </a:prstGeom>
          <a:solidFill>
            <a:srgbClr val="EBF2FB"/>
          </a:solidFill>
          <a:ln w="10160">
            <a:solidFill>
              <a:srgbClr val="1B4F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206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— Full MTF (1000×1000): Every pixel [i,j] = transition probability between the states at hour i and hour j. Bright = high probability, dark = low. Diagonal blocks reveal stable periods.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63440" y="4187952"/>
            <a:ext cx="4114800" cy="886968"/>
          </a:xfrm>
          <a:prstGeom prst="rect">
            <a:avLst/>
          </a:prstGeom>
          <a:solidFill>
            <a:srgbClr val="EBF2FB"/>
          </a:solidFill>
          <a:ln w="10160">
            <a:solidFill>
              <a:srgbClr val="0F717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4206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Reduced MTF (100×100): Block-averaged to 10×10 regions. 100× smaller — easy to store and process by ML models — while preserving all major structural patterns.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1B4F8A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54864" cy="201168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best number of bins intelligently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Number of Bins Matter So Much?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or too many both hurt the quality of the MTF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724912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45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2724912" cy="41148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Bins  (e.g. 3)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554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grouping — fine differences lost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22677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distinct hours treated as identical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298094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MTF loses detail, low information content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" y="3694176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model performance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987552"/>
            <a:ext cx="2724912" cy="3767328"/>
          </a:xfrm>
          <a:prstGeom prst="rect">
            <a:avLst/>
          </a:prstGeom>
          <a:solidFill>
            <a:srgbClr val="0D1B2A"/>
          </a:solidFill>
          <a:ln w="2540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87552"/>
            <a:ext cx="2724912" cy="41148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987552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Bins  (BO finds this)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0712" y="1554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bin well-populated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0712" y="22677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matrix reliable and stable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10712" y="298094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MTF encodes rich temporal dynamics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10712" y="3694176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information content (entropy)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40233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Bayesian Optimization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i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finds this automatically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987552"/>
            <a:ext cx="2724912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987552"/>
            <a:ext cx="2724912" cy="41148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987552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Bins  (e.g. 30)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1072" y="1554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transitions never observed (zeros)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91072" y="22677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estimated from 1–2 examples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91072" y="298094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MTF becomes sparse and noisy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91072" y="3694176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Overfits to specific sample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Bayesian Optimization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that learns from every evaluation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520440" cy="3977640"/>
          </a:xfrm>
          <a:prstGeom prst="rect">
            <a:avLst/>
          </a:prstGeom>
          <a:solidFill>
            <a:srgbClr val="0D1B2A"/>
          </a:solidFill>
          <a:ln w="6350">
            <a:solidFill>
              <a:srgbClr val="7B87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(naive)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n_bins = 4, 5, 6, 7, 8, 9 ... 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 evaluations, all treated equally)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154680" cy="36576"/>
          </a:xfrm>
          <a:prstGeom prst="rect">
            <a:avLst/>
          </a:prstGeom>
          <a:solidFill>
            <a:srgbClr val="7B8794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63347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Wastes time on obviously bad regions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Treats all values as equally likely to be optimal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95020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not use previous results to guide next guess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69080" y="1005840"/>
            <a:ext cx="47091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51960" y="10972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51960" y="1554480"/>
            <a:ext cx="457200" cy="457200"/>
          </a:xfrm>
          <a:prstGeom prst="oval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15819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1847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 random bin counts to start.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1960" y="2359152"/>
            <a:ext cx="457200" cy="457200"/>
          </a:xfrm>
          <a:prstGeom prst="oval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23865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8032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Gaussian Process — predicts entropy for any untested bin count, with uncertainty estimates.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51960" y="3163824"/>
            <a:ext cx="457200" cy="457200"/>
          </a:xfrm>
          <a:prstGeom prst="oval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3163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31912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Select: 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3456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bin count with highest Expected Improvement: the most likely to beat the current best.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51960" y="3968496"/>
            <a:ext cx="457200" cy="457200"/>
          </a:xfrm>
          <a:prstGeom prst="oval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3968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④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8032" y="39959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28032" y="42611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it, add to observations, re-fit the model. Repeat.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51960" y="4526280"/>
            <a:ext cx="4389120" cy="3200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4526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finds the optimal n_bins in ~13 total evaluations (vs 17 for grid search)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optimal number of bins using MTF entropy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87552"/>
            <a:ext cx="841248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370832"/>
            <a:ext cx="4114800" cy="822960"/>
          </a:xfrm>
          <a:prstGeom prst="rect">
            <a:avLst/>
          </a:prstGeom>
          <a:solidFill>
            <a:srgbClr val="EBF2FB"/>
          </a:solidFill>
          <a:ln w="10160">
            <a:solidFill>
              <a:srgbClr val="1B4F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40740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— Entropy Landscape: Bar height = information richness of the MTF at that bin count. The gold bar is the identified optimum. Higher entropy = more diverse, informative transition image.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63440" y="4370832"/>
            <a:ext cx="4114800" cy="822960"/>
          </a:xfrm>
          <a:prstGeom prst="rect">
            <a:avLst/>
          </a:prstGeom>
          <a:solidFill>
            <a:srgbClr val="EBF2FB"/>
          </a:solidFill>
          <a:ln w="10160">
            <a:solidFill>
              <a:srgbClr val="0F717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440740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Convergence: The green line shows the best entropy found so far at each BO iteration. It climbs quickly and reaches near-optimal within just a few steps — far more efficient than grid search.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1B4F8A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54864" cy="201168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Insights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MTF and what it reveals about load behaviour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Analysis — Stable vs. Volatile Periods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MTF diagonal reveals when load behaviour changes character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84124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315968"/>
            <a:ext cx="4114800" cy="685800"/>
          </a:xfrm>
          <a:prstGeom prst="rect">
            <a:avLst/>
          </a:prstGeom>
          <a:solidFill>
            <a:srgbClr val="EBF2FB"/>
          </a:solidFill>
          <a:ln w="10160">
            <a:solidFill>
              <a:srgbClr val="1B4F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343400"/>
            <a:ext cx="3840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chart — each 10-hour segment of HUFL is coloured by its self-transition probability. Yellow/bright = stable (load holds its level). Purple/dark = volatile (load is rapidly changing states).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63440" y="4315968"/>
            <a:ext cx="4114800" cy="685800"/>
          </a:xfrm>
          <a:prstGeom prst="rect">
            <a:avLst/>
          </a:prstGeom>
          <a:solidFill>
            <a:srgbClr val="EBF2FB"/>
          </a:solidFill>
          <a:ln w="10160">
            <a:solidFill>
              <a:srgbClr val="E9A82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4343400"/>
            <a:ext cx="3840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chart — the bar chart shows self-transition probability per block. High bars = plateau/steady-state periods. Low bars = rapid regime switches (morning ramp-up, unexpected demand spikes).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Regime Analysis Tells Grid Operators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intelligence from the MTF diagonal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70432"/>
            <a:ext cx="502920" cy="502920"/>
          </a:xfrm>
          <a:prstGeom prst="oval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52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1338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Night Periods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417320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low load from ~10pm–5am. High self-transition means the system holds steady. Safe window for maintenance work.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974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170432"/>
            <a:ext cx="502920" cy="502920"/>
          </a:xfrm>
          <a:prstGeom prst="oval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152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11338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Ramp-Up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9080" y="1417320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transition between ~6–9am as load rapidly increases. Low self-transition probability flags this as a high-risk period.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6974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170432"/>
            <a:ext cx="502920" cy="502920"/>
          </a:xfrm>
          <a:prstGeom prst="oval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152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☀️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11338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Plateau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1417320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Business-hours load is relatively stable (moderate-high self-transition). Demand response programs can be planned here.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26974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907792"/>
            <a:ext cx="502920" cy="502920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889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Flagging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3154680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unexpected dark (low self-transition) segment outside normal patterns is a candidate anomaly — automatic alert trigger.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743200"/>
            <a:ext cx="26974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2907792"/>
            <a:ext cx="502920" cy="502920"/>
          </a:xfrm>
          <a:prstGeom prst="oval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889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069080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Patterns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69080" y="3154680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blocks show systematically different stability profiles vs. weekdays — a useful input for demand forecasting.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743200"/>
            <a:ext cx="26974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2907792"/>
            <a:ext cx="502920" cy="502920"/>
          </a:xfrm>
          <a:prstGeom prst="oval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2889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95160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Feature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3154680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regime map itself becomes a rich feature vector for supervised learning — training models to predict future instability.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1B4F8A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54864" cy="201168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else can Markov Transition Fields be applied?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MTF Across Industries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 series signal can be encoded as an MTF image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97480" cy="384048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Energy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&amp; Anomaly Detection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00784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transformer readings as MTF images. Train a CNN to classify normal vs. fault conditions.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45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05840"/>
            <a:ext cx="2697480" cy="384048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0584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Healthcare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4447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/ EEG Classification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700784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arrhythmia or brain state classification from wearable sensor time series.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05840"/>
            <a:ext cx="2697480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00584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 Finance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4447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 Detection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700784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price or volatility series to identify structural shifts between bull/bear markets.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78892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788920"/>
            <a:ext cx="2697480" cy="38404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889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Industry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227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483864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when machine vibration patterns shift away from normal operating dynamics.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278892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788920"/>
            <a:ext cx="2697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7889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🌤️  Weather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227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State Classification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3483864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temperature or pressure series to identify recurring atmospheric regimes.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278892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788920"/>
            <a:ext cx="2697480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7889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IoT / Human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227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Recognition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483864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data encoded as MTF for step detection, fall detection, gesture classification.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MTF vs. Other Time Series Encodings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compare with alternative image-encoding methods?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93192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  <a:gridCol w="1463040"/>
                <a:gridCol w="1463040"/>
                <a:gridCol w="173736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captures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Preserves time order?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transitions?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4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MTF 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Probabilistic state transitions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Dynamics, regime detection, forecasting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(Gramian Angular Field)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Geometric shape, amplitude correlation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9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Shape-based 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(Recurrence Plot)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patterns, periodicity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9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Chaos, periodicity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STFT Spectrogram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content over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9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Audio, vibration frequency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Wavelet Transform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Multi-scale frequency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9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Non-stationary signals, denoising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this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6908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347472" cy="11155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4747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115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4447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1D sensor data is hard to analyse at scale and incompatible with image-based AI.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406908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04288"/>
            <a:ext cx="347472" cy="111556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04288"/>
            <a:ext cx="34747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24140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MTF Solution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2743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time series into a 2D image encoding BOTH temporal order AND transition probabilities.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02736"/>
            <a:ext cx="406908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E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02736"/>
            <a:ext cx="347472" cy="1115568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02736"/>
            <a:ext cx="34747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" y="37124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40416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HUFL has a clear 24-hour daily cycle (ACF lag 24, 48). Load features are highly correlated. Distribution is non-normal.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06908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E845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05840"/>
            <a:ext cx="347472" cy="1115568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005840"/>
            <a:ext cx="34747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38928" y="1115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38928" y="14447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Intelligently finds the optimal bin count by learning from each evaluation — far more efficient than grid search.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304288"/>
            <a:ext cx="406908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304288"/>
            <a:ext cx="347472" cy="11155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304288"/>
            <a:ext cx="34747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38928" y="24140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Map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38928" y="2743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MTF diagonal reveals stable vs. volatile periods — directly actionable for maintenance scheduling and anomaly alerts.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602736"/>
            <a:ext cx="406908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602736"/>
            <a:ext cx="347472" cy="111556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602736"/>
            <a:ext cx="34747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38928" y="37124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38928" y="40416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CNN on MTF images to classify operating conditions, predict faults, and detect anomalies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9748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47472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2519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3657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114300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192024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269748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5880" y="347472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5880" y="42519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3657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114300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192024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269748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4560" y="347472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42519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63240" y="3657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3240" y="114300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63240" y="192024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63240" y="269748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63240" y="347472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63240" y="42519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0" y="3657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0" y="114300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31920" y="192024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31920" y="269748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31920" y="347472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31920" y="42519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657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114300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192024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269748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47472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42519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0" y="3657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0" y="114300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0" y="192024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0" y="269748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0" y="347472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9280" y="42519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37960" y="3657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37960" y="114300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37960" y="192024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37960" y="269748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37960" y="347472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37960" y="42519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06640" y="3657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06640" y="114300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06640" y="192024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06640" y="269748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06640" y="347472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06640" y="42519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75320" y="3657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75320" y="114300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75320" y="192024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75320" y="269748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75320" y="347472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75320" y="4251960"/>
            <a:ext cx="32004" cy="32004"/>
          </a:xfrm>
          <a:prstGeom prst="oval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71600" y="10058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5" name="Text 63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6" name="Shape 64"/>
          <p:cNvSpPr/>
          <p:nvPr/>
        </p:nvSpPr>
        <p:spPr>
          <a:xfrm>
            <a:off x="2286000" y="2514600"/>
            <a:ext cx="4572000" cy="3657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71600" y="2697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ETTh1 dataset  →  EDA  →  Discretization  →  Markov Transition Field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 of n_bins  →  Regime Analysis  →  ML-Ready Image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371600" y="3611880"/>
            <a:ext cx="6400800" cy="1234440"/>
          </a:xfrm>
          <a:prstGeom prst="rect">
            <a:avLst/>
          </a:prstGeom>
          <a:solidFill>
            <a:srgbClr val="132238"/>
          </a:solidFill>
          <a:ln w="10160">
            <a:solidFill>
              <a:srgbClr val="0F717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554480" y="3703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554480" y="3986784"/>
            <a:ext cx="6035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Z. &amp; Oates, T. (2015). Encoding Time Series as Images for Visual Inspection and Classification. AAAI.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ETTh1 Dataset: github.com/zhouhaoyi/ETDataset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Brochu, E. et al. (2010). A Tutorial on Bayesian Optimization. arXiv:1012.2599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Markov Transition Field — Time Series Analysis</dc:title>
  <dc:subject>PptxGenJS Presentation</dc:subject>
  <dc:creator>MTF Analysis</dc:creator>
  <cp:lastModifiedBy>MTF Analysis</cp:lastModifiedBy>
  <cp:revision>1</cp:revision>
  <dcterms:created xsi:type="dcterms:W3CDTF">2026-02-28T02:24:25Z</dcterms:created>
  <dcterms:modified xsi:type="dcterms:W3CDTF">2026-02-28T02:24:25Z</dcterms:modified>
</cp:coreProperties>
</file>